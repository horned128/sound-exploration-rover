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ea101656b4cae" /><Relationship Type="http://schemas.openxmlformats.org/officeDocument/2006/relationships/extended-properties" Target="/docProps/app.xml" Id="R99442a1d363f4067" /><Relationship Type="http://schemas.openxmlformats.org/officeDocument/2006/relationships/officeDocument" Target="/ppt/presentation.xml" Id="R57138ee1fde2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a847e57c4e4c5e"/>
  </p:sldMasterIdLst>
  <p:notesMasterIdLst>
    <p:notesMasterId xmlns:r="http://schemas.openxmlformats.org/officeDocument/2006/relationships" r:id="R7f8ce9283747426b"/>
  </p:notesMasterIdLst>
  <p:sldIdLst>
    <p:sldId xmlns:r="http://schemas.openxmlformats.org/officeDocument/2006/relationships" id="256" r:id="R4168b4d162454f5f"/>
    <p:sldId xmlns:r="http://schemas.openxmlformats.org/officeDocument/2006/relationships" id="257" r:id="Rf9001a10ba5e4cf6"/>
    <p:sldId xmlns:r="http://schemas.openxmlformats.org/officeDocument/2006/relationships" id="258" r:id="R9baaba77fac24f5a"/>
    <p:sldId xmlns:r="http://schemas.openxmlformats.org/officeDocument/2006/relationships" id="259" r:id="R9370a7c3e09247fe"/>
    <p:sldId xmlns:r="http://schemas.openxmlformats.org/officeDocument/2006/relationships" id="260" r:id="Red8240f926764f23"/>
    <p:sldId xmlns:r="http://schemas.openxmlformats.org/officeDocument/2006/relationships" id="261" r:id="R8d1e9dba79a64e4a"/>
    <p:sldId xmlns:r="http://schemas.openxmlformats.org/officeDocument/2006/relationships" id="262" r:id="Rba087dff55984b31"/>
    <p:sldId xmlns:r="http://schemas.openxmlformats.org/officeDocument/2006/relationships" id="263" r:id="R134e4092f54347a3"/>
    <p:sldId xmlns:r="http://schemas.openxmlformats.org/officeDocument/2006/relationships" id="264" r:id="Rd4f5ce680b294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9d560a4f44c49" /><Relationship Type="http://schemas.openxmlformats.org/officeDocument/2006/relationships/slideMaster" Target="/ppt/slideMasters/slideMaster1.xml" Id="R70a847e57c4e4c5e" /><Relationship Type="http://schemas.openxmlformats.org/officeDocument/2006/relationships/notesMaster" Target="/ppt/notesMasters/notesMaster1.xml" Id="R7f8ce9283747426b" /><Relationship Type="http://schemas.openxmlformats.org/officeDocument/2006/relationships/presProps" Target="/ppt/presProps.xml" Id="R1f1e89ff1bf24b2a" /><Relationship Type="http://schemas.openxmlformats.org/officeDocument/2006/relationships/tableStyles" Target="/ppt/tableStyles.xml" Id="R1333cc747b054b3d" /><Relationship Type="http://schemas.openxmlformats.org/officeDocument/2006/relationships/slide" Target="/ppt/slides/slide1.xml" Id="R4168b4d162454f5f" /><Relationship Type="http://schemas.openxmlformats.org/officeDocument/2006/relationships/slide" Target="/ppt/slides/slide2.xml" Id="Rf9001a10ba5e4cf6" /><Relationship Type="http://schemas.openxmlformats.org/officeDocument/2006/relationships/slide" Target="/ppt/slides/slide3.xml" Id="R9baaba77fac24f5a" /><Relationship Type="http://schemas.openxmlformats.org/officeDocument/2006/relationships/slide" Target="/ppt/slides/slide4.xml" Id="R9370a7c3e09247fe" /><Relationship Type="http://schemas.openxmlformats.org/officeDocument/2006/relationships/slide" Target="/ppt/slides/slide5.xml" Id="Red8240f926764f23" /><Relationship Type="http://schemas.openxmlformats.org/officeDocument/2006/relationships/slide" Target="/ppt/slides/slide6.xml" Id="R8d1e9dba79a64e4a" /><Relationship Type="http://schemas.openxmlformats.org/officeDocument/2006/relationships/slide" Target="/ppt/slides/slide7.xml" Id="Rba087dff55984b31" /><Relationship Type="http://schemas.openxmlformats.org/officeDocument/2006/relationships/slide" Target="/ppt/slides/slide8.xml" Id="R134e4092f54347a3" /><Relationship Type="http://schemas.openxmlformats.org/officeDocument/2006/relationships/slide" Target="/ppt/slides/slide9.xml" Id="Rd4f5ce680b29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5bc4e84934c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5ed2fc6a054807" /><Relationship Type="http://schemas.openxmlformats.org/officeDocument/2006/relationships/notesMaster" Target="/ppt/notesMasters/notesMaster1.xml" Id="Rd6dd4edfec18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c9428f67d4a7f" /><Relationship Type="http://schemas.openxmlformats.org/officeDocument/2006/relationships/notesMaster" Target="/ppt/notesMasters/notesMaster1.xml" Id="R024a500b5334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5faf3753794b52" /><Relationship Type="http://schemas.openxmlformats.org/officeDocument/2006/relationships/notesMaster" Target="/ppt/notesMasters/notesMaster1.xml" Id="R319be446f7c441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921dd9f174397" /><Relationship Type="http://schemas.openxmlformats.org/officeDocument/2006/relationships/notesMaster" Target="/ppt/notesMasters/notesMaster1.xml" Id="Rf2c7759b168545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7ab59b647d4029" /><Relationship Type="http://schemas.openxmlformats.org/officeDocument/2006/relationships/notesMaster" Target="/ppt/notesMasters/notesMaster1.xml" Id="Rbfc1a4338a7443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45aa8a3b8a4c7c" /><Relationship Type="http://schemas.openxmlformats.org/officeDocument/2006/relationships/notesMaster" Target="/ppt/notesMasters/notesMaster1.xml" Id="R76db6eab6323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9de4f749164ce6" /><Relationship Type="http://schemas.openxmlformats.org/officeDocument/2006/relationships/notesMaster" Target="/ppt/notesMasters/notesMaster1.xml" Id="Re7b265ba5336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c9c1be4de9414a" /><Relationship Type="http://schemas.openxmlformats.org/officeDocument/2006/relationships/notesMaster" Target="/ppt/notesMasters/notesMaster1.xml" Id="Rcc254c33cd2949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21370cce924909" /><Relationship Type="http://schemas.openxmlformats.org/officeDocument/2006/relationships/notesMaster" Target="/ppt/notesMasters/notesMaster1.xml" Id="R25a8b320a4a5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写真: 応募者提供の実機写真 S__47128586.jpg。名称・氏名: 応募者提供の計画書。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実機確認: 応募者の申告。動画は現場学習から追従までのチュートリアルと、プランター回避の主試験B。四方向の主試験Aは未撮影。docs/contest/EVALUATION.md参照。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根拠: docs/firmware/ARCHITECTURE.md、firmware/ra8p1/SoundExplorationRover_CPU0/src/config/task_config.h、firmware/ra8p1/SoundExplorationRover_CPU1/src/。CPU1の1 ms周期と1.5秒timeoutはソースおよび設計書に記載。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実機写真: 応募者提供 S__47128591.jpg。赤い印は応募者が付けたSW1位置。SW1・緑LED・MRAM手順: firmware/ra8p1/SoundExplorationRover_CPU0/src/tasks/task_think.c、docs/firmware/RESPEAKER_INTEGRATION.md。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配置図: 応募者提供 tmp/test_map.drawio を docs/contest/test-map.drawio に保存し、音源ラベルを鳴子へ更新。90 cm、220 cm、半径11 cmは目安。実機での非接触回避は応募者確認済み。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モデル: firmware/ra8p1/SoundExplorationRover_CPU0/src/control/control_mlp_model.h。10入力/2出力と3,880バイト: docs/firmware/edgeai/control_mlp_avoidance.md、control_mlp_planner.c。学習: software/control-sim/controlsim/train_control_mlp.py。実機確認: 応募者の申告。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URLと内容は応募者提供。チュートリアル: https://youtu.be/HlEqVrhAsqA。主試験B: https://youtube.com/shorts/4OGVpEJQ6OY?si=xfHyg3C4lrh2D03t。四方向の主試験Aは未撮影。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根拠: docs/contest/SOURCE_AND_BUILD.md、software/control-sim/README.md、git remote origin。最終コミットとURLの発行は応募者が担当。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同梱物と順序は応募者確認済み。梱包写真: 応募者提供 IMG_1987.HEIC を変換したもの。再学習開始時に旧見本が消えるため任意試験は最後にする。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3c3e3887d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a1c6587fb47d2" /><Relationship Type="http://schemas.openxmlformats.org/officeDocument/2006/relationships/slideLayout" Target="/ppt/slideLayouts/slideLayout1.xml" Id="R8ce219568b7543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e219568b7543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927632554ebd" /><Relationship Type="http://schemas.openxmlformats.org/officeDocument/2006/relationships/image" Target="/ppt/media/image.jpeg" Id="Rf034b4e5da2649f6" /><Relationship Type="http://schemas.openxmlformats.org/officeDocument/2006/relationships/notesSlide" Target="/ppt/notesSlides/notesSlide1.xml" Id="R17b7aa9b04fc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76607adb5462f" /><Relationship Type="http://schemas.openxmlformats.org/officeDocument/2006/relationships/notesSlide" Target="/ppt/notesSlides/notesSlide2.xml" Id="R64db6b603015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d9b5f68b4cef" /><Relationship Type="http://schemas.openxmlformats.org/officeDocument/2006/relationships/notesSlide" Target="/ppt/notesSlides/notesSlide3.xml" Id="R3e5c7062f78e44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e35da885496b" /><Relationship Type="http://schemas.openxmlformats.org/officeDocument/2006/relationships/image" Target="/ppt/media/image2.jpeg" Id="Rfa1561261f5948ec" /><Relationship Type="http://schemas.openxmlformats.org/officeDocument/2006/relationships/notesSlide" Target="/ppt/notesSlides/notesSlide4.xml" Id="R7c49a7aadbf3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1ab54665846f7" /><Relationship Type="http://schemas.openxmlformats.org/officeDocument/2006/relationships/notesSlide" Target="/ppt/notesSlides/notesSlide5.xml" Id="R987f7b7aa2204a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a4cd70933474f" /><Relationship Type="http://schemas.openxmlformats.org/officeDocument/2006/relationships/notesSlide" Target="/ppt/notesSlides/notesSlide6.xml" Id="R90de9e931f9e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4d7361c0a43c1" /><Relationship Type="http://schemas.openxmlformats.org/officeDocument/2006/relationships/notesSlide" Target="/ppt/notesSlides/notesSlide7.xml" Id="Rcc9d1f42c983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28ffbaec44a9" /><Relationship Type="http://schemas.openxmlformats.org/officeDocument/2006/relationships/notesSlide" Target="/ppt/notesSlides/notesSlide8.xml" Id="Rac5192d0139143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2c14e8b6b4d59" /><Relationship Type="http://schemas.openxmlformats.org/officeDocument/2006/relationships/image" Target="/ppt/media/image3.jpeg" Id="R1d47290a459449a0" /><Relationship Type="http://schemas.openxmlformats.org/officeDocument/2006/relationships/notesSlide" Target="/ppt/notesSlides/notesSlide9.xml" Id="Rc66fa645eb1a49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337C9-D9C8-49B6-B2C2-AF7B7389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音を覚え、</a:t>
            </a:r>
          </a:p>
          <a:p xmlns:a="http://schemas.openxmlformats.org/drawingml/2006/main">
            <a:pPr algn="l">
              <a:defRPr sz="40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障害物を避けて進む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B19D-ABA8-4AA4-A420-FB194FD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Sound Exploration ROVer（SEROV）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F4AA5-CAED-4ED2-83A2-FCB4FB2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TRONプログラミングコンテスト2026</a:t>
            </a:r>
          </a:p>
          <a:p xmlns:a="http://schemas.openxmlformats.org/drawingml/2006/main">
            <a:pPr algn="l">
              <a:def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日野 朝登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4b4e5da2649f6"/>
          <a:stretch xmlns:a="http://schemas.openxmlformats.org/drawingml/2006/main"/>
        </p:blipFill>
        <p:spPr>
          <a:xfrm xmlns:a="http://schemas.openxmlformats.org/drawingml/2006/main">
            <a:off x="6143625" y="1026043"/>
            <a:ext cx="5429250" cy="47487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76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B34C-B7FC-4B95-A37D-081B207C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実機で確認した動作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8485E-312D-450E-8196-C7EB3785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0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E6BF0-EBBB-4B33-A1A7-6E2DD3F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43050"/>
            <a:ext cx="962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鳴子を現場で学習し、見本を保存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3F57E-D4B5-420D-94AC-8B0E864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0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B41B8-136A-43EA-BB3A-666C4BF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95600"/>
            <a:ext cx="962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検知した鳴子の方向へ旋回・前進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AD6BA-96CC-441C-8772-5139D1B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90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36690-E485-4B3B-B44B-701CBE3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48150"/>
            <a:ext cx="962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プランターを避け、鳴子の方向へ進む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C921F-AE3E-4C22-9556-0C282A1D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チュートリアルとプランター回避の実機動画2本で確認できます。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896010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2D834-DD9C-46F8-A412-4D4E8D8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μT-Kernel 3.0を2つのコアで動かす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6729B-41C6-4351-97C7-DB0A995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400300" cy="2714625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A66DD-E1DD-41FD-8B0D-1B961D88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音を捉える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73E2C-775A-4EDC-ACF9-B5FB258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2057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XVF3800</a:t>
            </a:r>
          </a:p>
          <a:p xmlns:a="http://schemas.openxmlformats.org/drawingml/2006/main">
            <a:pPr algn="l">
              <a:defRPr sz="172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4マイクで方位を測る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F511D-247A-405E-97D2-D503B41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XIAO ESP32-S3</a:t>
            </a:r>
          </a:p>
          <a:p xmlns:a="http://schemas.openxmlformats.org/drawingml/2006/main">
            <a:pPr algn="l">
              <a:def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音響特徴量を抽出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77820-46E9-4F0B-A779-7F89F559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47975"/>
            <a:ext cx="495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97354-2258-456A-B7A3-928A3CC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57375"/>
            <a:ext cx="29051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6F0EE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6F1E4-476A-4B22-AEE9-0B81B75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CPU0  Cortex-M85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D40F8-4668-4D74-A5A5-489CCB7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2428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μT-Kernel 3.0</a:t>
            </a:r>
          </a:p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音の識別・方位追従</a:t>
            </a:r>
          </a:p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ToF / IMU・TFLM推論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3D79F-AA20-4EBD-AAD7-707D55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47975"/>
            <a:ext cx="495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DBE6F-BEA5-4A5D-8B40-2DC5C4E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57375"/>
            <a:ext cx="2590800" cy="27146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8589A-37DA-43E1-8968-5E6A4AB0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2181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CPU1  Cortex-M33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56F1D-BEE2-4E0C-8634-6ABB8ED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47950"/>
            <a:ext cx="21812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μT-Kernel 3.0</a:t>
            </a:r>
          </a:p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1 ms周期の駆動制御</a:t>
            </a:r>
          </a:p>
          <a:p xmlns:a="http://schemas.openxmlformats.org/drawingml/2006/main">
            <a:pPr algn="l">
              <a:def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指令途絶で停止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4F847-A811-4272-8448-77F229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47975"/>
            <a:ext cx="47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E7B34-EAB2-4694-AFB3-D4B1D32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09800"/>
            <a:ext cx="1200150" cy="20002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991AC-5B4C-43D5-AC21-23AA2A4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00300"/>
            <a:ext cx="10191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車体</a:t>
            </a:r>
          </a:p>
          <a:p xmlns:a="http://schemas.openxmlformats.org/drawingml/2006/main">
            <a:pPr algn="ctr">
              <a:def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6輪駆動</a:t>
            </a:r>
          </a:p>
          <a:p xmlns:a="http://schemas.openxmlformats.org/drawingml/2006/main">
            <a:pPr algn="ctr">
              <a:def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4輪操舵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AB05A-60EE-430A-A423-E0CE438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CPU0とCPU1はHardware FIFOを通じて6つの駆動出力を一括確定します。</a:t>
            </a:r>
          </a:p>
        </p:txBody>
      </p:sp>
    </p:spTree>
    <p:extLst>
      <p:ext uri="{BB962C8B-B14F-4D97-AF65-F5344CB8AC3E}">
        <p14:creationId xmlns:p14="http://schemas.microsoft.com/office/powerpoint/2010/main" val="31500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95984-9AAD-47ED-8222-EF70737F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現場で鳴子を学習する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B09AE-FC0A-4AF2-9E92-A32543F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SW1を2秒長押し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088A4-06C8-4275-BF22-27507BE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鳴子の有効な見本を5件集める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C1E15-A258-4E0E-8347-2DB999E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もう一度2秒長押しして保存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0E9BC-0CD6-4B68-9D80-66CB505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緑LEDの点灯が保存完了の目印。</a:t>
            </a:r>
          </a:p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見本はCode MRAMに残ります。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561261f5948ec"/>
          <a:stretch xmlns:a="http://schemas.openxmlformats.org/drawingml/2006/main"/>
        </p:blipFill>
        <p:spPr>
          <a:xfrm xmlns:a="http://schemas.openxmlformats.org/drawingml/2006/main">
            <a:off x="6438900" y="1703523"/>
            <a:ext cx="5181600" cy="38700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2EB1F-6AAF-47F8-A956-16C3D81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81700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赤い印＝学習ボタン SW1</a:t>
            </a:r>
          </a:p>
        </p:txBody>
      </p:sp>
    </p:spTree>
    <p:extLst>
      <p:ext uri="{BB962C8B-B14F-4D97-AF65-F5344CB8AC3E}">
        <p14:creationId xmlns:p14="http://schemas.microsoft.com/office/powerpoint/2010/main" val="214112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DA57E-0CBB-4F52-8FDB-4D05B3AC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プランター回避の試験配置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23FDD-FD9A-4E85-8275-3CE58F0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14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距離は目安。ローバの前面をプランターへ向け、鳴子を断続的に鳴らす。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7A05-BA99-4FDE-A350-A526C3BF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2190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F0EE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7070F-24EE-4216-9AD0-65D9698D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1666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ローバ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49ED2-0D48-44BA-A962-7FD7F9E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前面（ToF）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12B4-E85F-4C4D-BCAF-680B1E0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571625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BDAA"/>
          </a:solidFill>
          <a:ln xmlns:a="http://schemas.openxmlformats.org/drawingml/2006/main" w="19050">
            <a:solidFill>
              <a:srgbClr val="A67E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2AD19-CDB6-4D18-984B-7FE2725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プランター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0B756-66F2-44AD-9E11-215DAAE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1381125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FC4"/>
          </a:solidFill>
          <a:ln xmlns:a="http://schemas.openxmlformats.org/drawingml/2006/main" w="19050">
            <a:solidFill>
              <a:srgbClr val="D35C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304C8-640E-48C3-AE83-8935AE9E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720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鳴子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37F4B-5616-4FB0-9935-82C4F78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約90 cm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10014-5D39-4814-A8F1-CB7CB44E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5528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音源まで約220 cm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60101-CCBD-4413-B569-B5554691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実機では接触せず回避して鳴子へ進みました。</a:t>
            </a:r>
          </a:p>
        </p:txBody>
      </p:sp>
    </p:spTree>
    <p:extLst>
      <p:ext uri="{BB962C8B-B14F-4D97-AF65-F5344CB8AC3E}">
        <p14:creationId xmlns:p14="http://schemas.microsoft.com/office/powerpoint/2010/main" val="903345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30CA0-95CA-4CFB-BE49-50CD941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3,880バイトの制御モデル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37B5-94A3-44B6-8D1D-2EB9F85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F908D-1A09-4395-83B2-59D818D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ToF距離 3方向</a:t>
            </a:r>
          </a:p>
          <a:p xmlns:a="http://schemas.openxmlformats.org/drawingml/2006/main">
            <a:pPr algn="l">
              <a:def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音源の方位</a:t>
            </a:r>
          </a:p>
          <a:p xmlns:a="http://schemas.openxmlformats.org/drawingml/2006/main">
            <a:pPr algn="l">
              <a:def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IMUの回転速度など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92EDB-6984-4AE7-BCBF-B2DF2D0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98092-3083-432D-875B-B3CEF9F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0225"/>
            <a:ext cx="3143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6F0EE"/>
          </a:solidFill>
          <a:ln xmlns:a="http://schemas.openxmlformats.org/drawingml/2006/main" w="19050">
            <a:solidFill>
              <a:srgbClr val="9FB6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36FF3-F066-410C-8BEE-A1C4CE08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TFLM  int8 MLP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F1C55-A9F9-4DB1-8286-ED66B3A1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10入力・2出力</a:t>
            </a:r>
          </a:p>
          <a:p xmlns:a="http://schemas.openxmlformats.org/drawingml/2006/main">
            <a:pPr algn="ctr">
              <a:defRPr sz="180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操舵角と前進速度を推論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C0398-8C26-48D2-B944-4577A2EC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EB3A9-B145-442D-912E-6A56A473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478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出力と監視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58938-7E26-4964-9D6A-AB4CC11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回避側の保持</a:t>
            </a:r>
          </a:p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センサの有効性確認</a:t>
            </a:r>
          </a:p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CPU1の指令期限監視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4BF2F-C607-4511-B61F-B8C61DC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control-simで学習したモデルをCPU0に組み込み、プランター回避を実機で確認しました。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1047720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3CC4F-009A-463D-9DBF-632DC38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2本の実機動画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BD23E-EB9E-40FC-8C52-1F3D203E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チュートリアル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EEB80-8079-470B-AECE-9E83C87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電源投入から学習・追従まで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9BB1A-3A50-47AD-B01D-0E91006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SW1で鳴子を学習・保存し、検知した方向へ進む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B0CA4-8846-4380-8BC9-24D74E1C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35C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35C3D"/>
                </a:solidFill>
                <a:latin typeface="Arial Unicode MS"/>
                <a:ea typeface="Arial Unicode MS"/>
                <a:cs typeface="Arial Unicode MS"/>
              </a:rPr>
              <a:t>https://youtu.be/HlEqVrhAsqA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8D817-B26F-43FA-BC72-883A169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主試験B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71EB9-3491-42E4-B810-C03EF21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プランターを回避して鳴子へ進む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847B1-4377-4244-978F-81587A52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障害物に接触しない実機走行を確認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36135-BBC7-455B-8BE3-9C389AFE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35C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35C3D"/>
                </a:solidFill>
                <a:latin typeface="Arial Unicode MS"/>
                <a:ea typeface="Arial Unicode MS"/>
                <a:cs typeface="Arial Unicode MS"/>
              </a:rPr>
              <a:t>https://youtube.com/shorts/4OGVpEJQ6OY?si=xfHyg3C4lrh2D03t</a:t>
            </a:r>
          </a:p>
        </p:txBody>
      </p:sp>
    </p:spTree>
    <p:extLst>
      <p:ext uri="{BB962C8B-B14F-4D97-AF65-F5344CB8AC3E}">
        <p14:creationId xmlns:p14="http://schemas.microsoft.com/office/powerpoint/2010/main" val="1637234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025A0-2ACB-496D-9949-6BF1F1E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ソースコードと再現手順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3B6E-3C4C-4384-91B9-DE003A3E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909C5-AA75-4B36-A21E-368A006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github.com/horned128/sound-exploration-rover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17CAC-D5CB-4C7B-ACE9-1C34338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CPU0・CPU1・ESP32-S3のソースとビルド手順を公開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DBEBE-0AFA-4A77-BD60-157EB51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control-simで制御モデルを学習し、C制御コードをPC上で試験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CDCAF-0538-4598-8EE0-FE1DECCA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審査時は書き込み済みの実機と同梱の鳴子・プランターで確認できます。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392394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ED484-E60A-4EB0-A4A3-2041AC9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審査用の実機セット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42452-DDEC-408C-AFED-90FF5485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同梱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D758F-C19A-486D-9573-AA3DBEB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381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ローバ本体、鳴子、プランター</a:t>
            </a:r>
          </a:p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予備LiPoバッテリー、充電器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7A8BA-B574-4190-9D26-DD18EBE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7F86"/>
                </a:solidFill>
                <a:latin typeface="Arial Unicode MS"/>
                <a:ea typeface="Arial Unicode MS"/>
                <a:cs typeface="Arial Unicode MS"/>
              </a:rPr>
              <a:t>確認の順番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96869-79BF-405E-9773-39E9ED4C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53816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① 四方向の鳴子</a:t>
            </a:r>
          </a:p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② プランター回避</a:t>
            </a:r>
          </a:p>
          <a:p xmlns:a="http://schemas.openxmlformats.org/drawingml/2006/main">
            <a:pPr algn="l">
              <a:def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13E"/>
                </a:solidFill>
                <a:latin typeface="Arial Unicode MS"/>
                <a:ea typeface="Arial Unicode MS"/>
                <a:cs typeface="Arial Unicode MS"/>
              </a:rPr>
              <a:t>③ 任意で別の音を再学習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20E6-8F96-468C-B38E-5489701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45606C"/>
                </a:solidFill>
                <a:latin typeface="Arial Unicode MS"/>
                <a:ea typeface="Arial Unicode MS"/>
                <a:cs typeface="Arial Unicode MS"/>
              </a:rPr>
              <a:t>詳しい操作は docs/contest/EVALUATION.md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7290a459449a0"/>
          <a:stretch xmlns:a="http://schemas.openxmlformats.org/drawingml/2006/main"/>
        </p:blipFill>
        <p:spPr>
          <a:xfrm xmlns:a="http://schemas.openxmlformats.org/drawingml/2006/main">
            <a:off x="7216378" y="1447800"/>
            <a:ext cx="3378994" cy="450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2026-09-28T16:32:57.9490000Z</dcterms:created>
  <dcterms:modified xsi:type="dcterms:W3CDTF">2026-09-28T16:32:57.9490000Z</dcterms:modified>
</coreProperties>
</file>