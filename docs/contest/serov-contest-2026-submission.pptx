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fa5980b32d4029" /><Relationship Type="http://schemas.openxmlformats.org/officeDocument/2006/relationships/extended-properties" Target="/docProps/app.xml" Id="R26400cddde4d4b7b" /><Relationship Type="http://schemas.openxmlformats.org/officeDocument/2006/relationships/officeDocument" Target="/ppt/presentation.xml" Id="R147bb63ba9654f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71b45d07e64230"/>
  </p:sldMasterIdLst>
  <p:notesMasterIdLst>
    <p:notesMasterId xmlns:r="http://schemas.openxmlformats.org/officeDocument/2006/relationships" r:id="Rbc725b1a76bb497f"/>
  </p:notesMasterIdLst>
  <p:sldIdLst>
    <p:sldId xmlns:r="http://schemas.openxmlformats.org/officeDocument/2006/relationships" id="256" r:id="Rb3a83d472b75404f"/>
    <p:sldId xmlns:r="http://schemas.openxmlformats.org/officeDocument/2006/relationships" id="257" r:id="R3bfadb21e9bb4b43"/>
    <p:sldId xmlns:r="http://schemas.openxmlformats.org/officeDocument/2006/relationships" id="258" r:id="R9cdc559d6aeb44a3"/>
    <p:sldId xmlns:r="http://schemas.openxmlformats.org/officeDocument/2006/relationships" id="259" r:id="Rc7de5540b4be4bde"/>
    <p:sldId xmlns:r="http://schemas.openxmlformats.org/officeDocument/2006/relationships" id="260" r:id="R747654d49053458a"/>
    <p:sldId xmlns:r="http://schemas.openxmlformats.org/officeDocument/2006/relationships" id="261" r:id="R75722aabf3cd4839"/>
    <p:sldId xmlns:r="http://schemas.openxmlformats.org/officeDocument/2006/relationships" id="262" r:id="R03992b8ab72e40fd"/>
    <p:sldId xmlns:r="http://schemas.openxmlformats.org/officeDocument/2006/relationships" id="263" r:id="R8664d4b262254f3c"/>
    <p:sldId xmlns:r="http://schemas.openxmlformats.org/officeDocument/2006/relationships" id="264" r:id="R55a006ef3d9449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2cbdf7fc7d47a6" /><Relationship Type="http://schemas.openxmlformats.org/officeDocument/2006/relationships/slideMaster" Target="/ppt/slideMasters/slideMaster1.xml" Id="R2471b45d07e64230" /><Relationship Type="http://schemas.openxmlformats.org/officeDocument/2006/relationships/notesMaster" Target="/ppt/notesMasters/notesMaster1.xml" Id="Rbc725b1a76bb497f" /><Relationship Type="http://schemas.openxmlformats.org/officeDocument/2006/relationships/presProps" Target="/ppt/presProps.xml" Id="Ra8d9c53d8be84820" /><Relationship Type="http://schemas.openxmlformats.org/officeDocument/2006/relationships/tableStyles" Target="/ppt/tableStyles.xml" Id="R4b55ff395ab04b64" /><Relationship Type="http://schemas.openxmlformats.org/officeDocument/2006/relationships/slide" Target="/ppt/slides/slide1.xml" Id="Rb3a83d472b75404f" /><Relationship Type="http://schemas.openxmlformats.org/officeDocument/2006/relationships/slide" Target="/ppt/slides/slide2.xml" Id="R3bfadb21e9bb4b43" /><Relationship Type="http://schemas.openxmlformats.org/officeDocument/2006/relationships/slide" Target="/ppt/slides/slide3.xml" Id="R9cdc559d6aeb44a3" /><Relationship Type="http://schemas.openxmlformats.org/officeDocument/2006/relationships/slide" Target="/ppt/slides/slide4.xml" Id="Rc7de5540b4be4bde" /><Relationship Type="http://schemas.openxmlformats.org/officeDocument/2006/relationships/slide" Target="/ppt/slides/slide5.xml" Id="R747654d49053458a" /><Relationship Type="http://schemas.openxmlformats.org/officeDocument/2006/relationships/slide" Target="/ppt/slides/slide6.xml" Id="R75722aabf3cd4839" /><Relationship Type="http://schemas.openxmlformats.org/officeDocument/2006/relationships/slide" Target="/ppt/slides/slide7.xml" Id="R03992b8ab72e40fd" /><Relationship Type="http://schemas.openxmlformats.org/officeDocument/2006/relationships/slide" Target="/ppt/slides/slide8.xml" Id="R8664d4b262254f3c" /><Relationship Type="http://schemas.openxmlformats.org/officeDocument/2006/relationships/slide" Target="/ppt/slides/slide9.xml" Id="R55a006ef3d9449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e5a267a7f84f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b11a3519964c43" /><Relationship Type="http://schemas.openxmlformats.org/officeDocument/2006/relationships/notesMaster" Target="/ppt/notesMasters/notesMaster1.xml" Id="R03855cbb57f746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151c97890340f8" /><Relationship Type="http://schemas.openxmlformats.org/officeDocument/2006/relationships/notesMaster" Target="/ppt/notesMasters/notesMaster1.xml" Id="R8afeba56ba9b48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dcbe09ef1f45a1" /><Relationship Type="http://schemas.openxmlformats.org/officeDocument/2006/relationships/notesMaster" Target="/ppt/notesMasters/notesMaster1.xml" Id="Ra0e4baf862ee41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564ca3520a4df2" /><Relationship Type="http://schemas.openxmlformats.org/officeDocument/2006/relationships/notesMaster" Target="/ppt/notesMasters/notesMaster1.xml" Id="Rf7a9617427b14b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ad637459754329" /><Relationship Type="http://schemas.openxmlformats.org/officeDocument/2006/relationships/notesMaster" Target="/ppt/notesMasters/notesMaster1.xml" Id="R71e40363e08445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5e852955794d92" /><Relationship Type="http://schemas.openxmlformats.org/officeDocument/2006/relationships/notesMaster" Target="/ppt/notesMasters/notesMaster1.xml" Id="Rd7a431feb39c43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f495411dcd48b5" /><Relationship Type="http://schemas.openxmlformats.org/officeDocument/2006/relationships/notesMaster" Target="/ppt/notesMasters/notesMaster1.xml" Id="R7da22c01f1484f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9c577be0494a69" /><Relationship Type="http://schemas.openxmlformats.org/officeDocument/2006/relationships/notesMaster" Target="/ppt/notesMasters/notesMaster1.xml" Id="R525faa489bfc4c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2d3602db7344ca" /><Relationship Type="http://schemas.openxmlformats.org/officeDocument/2006/relationships/notesMaster" Target="/ppt/notesMasters/notesMaster1.xml" Id="R76ce339781ee4d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写真: 応募者提供の実機写真 S__47128586.jpg。名称・氏名: 応募者提供の計画書。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実機確認: 応募者の申告。動画は現場学習から追従までのチュートリアルと、プランター回避の主試験B。四方向の主試験Aは未撮影。docs/contest/EVALUATION.md参照。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出典: docs/contest/assets/serov-one-page.png（再生成元: docs/contest/assets/render_one_page.py）。構成の根拠: docs/firmware/ARCHITECTURE.md。実機写真: docs/contest/assets/rover-angle.jpg、rover-top.jpg。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実機写真: 応募者提供 S__47128591.jpg。赤い印は応募者が付けたSW1位置。SW1・緑LED・MRAM手順: firmware/ra8p1/SoundExplorationRover_CPU0/src/tasks/task_think.c、docs/firmware/RESPEAKER_INTEGRATION.md。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配置図: 応募者提供 tmp/test_map.drawio を docs/contest/test-map.drawio に保存し、音源ラベルを鳴子へ更新。90 cm、220 cm、半径11 cmは目安。実機での非接触回避は応募者確認済み。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モデル: firmware/ra8p1/SoundExplorationRover_CPU0/src/control/control_mlp_model.h。10入力/2出力と3,880バイト: docs/firmware/edgeai/control_mlp_avoidance.md、control_mlp_planner.c。学習: software/control-sim/controlsim/train_control_mlp.py。実機確認: 応募者の申告。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URLと内容は応募者提供。チュートリアル: https://youtu.be/HlEqVrhAsqA。主試験B: https://youtube.com/shorts/4OGVpEJQ6OY?si=xfHyg3C4lrh2D03t。四方向の主試験Aは未撮影。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根拠: docs/contest/SOURCE_AND_BUILD.md、software/control-sim/README.md、git remote origin。最終コミットとURLの発行は応募者が担当。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同梱物と順序は応募者確認済み。梱包写真: 応募者提供 IMG_1987.HEIC を変換したもの。再学習開始時に旧見本が消えるため任意試験は最後にする。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97c4ec84b044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64b023d3704ea0" /><Relationship Type="http://schemas.openxmlformats.org/officeDocument/2006/relationships/slideLayout" Target="/ppt/slideLayouts/slideLayout1.xml" Id="R05d89ac0731c49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d89ac0731c49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a560e9af947ba" /><Relationship Type="http://schemas.openxmlformats.org/officeDocument/2006/relationships/image" Target="/ppt/media/image.jpeg" Id="R943976de4a9b4b8e" /><Relationship Type="http://schemas.openxmlformats.org/officeDocument/2006/relationships/notesSlide" Target="/ppt/notesSlides/notesSlide1.xml" Id="Re521102ac21a4f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e4ae6ca40447b" /><Relationship Type="http://schemas.openxmlformats.org/officeDocument/2006/relationships/notesSlide" Target="/ppt/notesSlides/notesSlide2.xml" Id="R2f8f318feb1441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9d9eea87141ea" /><Relationship Type="http://schemas.openxmlformats.org/officeDocument/2006/relationships/image" Target="/ppt/media/image.png" Id="R4d06df219a0b45ca" /><Relationship Type="http://schemas.openxmlformats.org/officeDocument/2006/relationships/notesSlide" Target="/ppt/notesSlides/notesSlide3.xml" Id="Rd558db83adfa4f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e003523a441b1" /><Relationship Type="http://schemas.openxmlformats.org/officeDocument/2006/relationships/image" Target="/ppt/media/image2.jpeg" Id="R47c7c444a25f4087" /><Relationship Type="http://schemas.openxmlformats.org/officeDocument/2006/relationships/notesSlide" Target="/ppt/notesSlides/notesSlide4.xml" Id="R8dc500bb7ee847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8fe135f7d4a0d" /><Relationship Type="http://schemas.openxmlformats.org/officeDocument/2006/relationships/notesSlide" Target="/ppt/notesSlides/notesSlide5.xml" Id="R219e0c1addf348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bb991277e4608" /><Relationship Type="http://schemas.openxmlformats.org/officeDocument/2006/relationships/notesSlide" Target="/ppt/notesSlides/notesSlide6.xml" Id="R9265224e9aad45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e8b7b348143cf" /><Relationship Type="http://schemas.openxmlformats.org/officeDocument/2006/relationships/notesSlide" Target="/ppt/notesSlides/notesSlide7.xml" Id="R15a7aa1786124c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6d1bc126e4da7" /><Relationship Type="http://schemas.openxmlformats.org/officeDocument/2006/relationships/notesSlide" Target="/ppt/notesSlides/notesSlide8.xml" Id="Rdc68a50a7117483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d483f94bd4ed9" /><Relationship Type="http://schemas.openxmlformats.org/officeDocument/2006/relationships/image" Target="/ppt/media/image3.jpeg" Id="R4946105ab44346ff" /><Relationship Type="http://schemas.openxmlformats.org/officeDocument/2006/relationships/notesSlide" Target="/ppt/notesSlides/notesSlide9.xml" Id="R303e10a8081c43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337C9-D9C8-49B6-B2C2-AF7B7389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5334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音を覚え、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障害物を避けて進む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3B19D-ABA8-4AA4-A420-FB194FDB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14700"/>
            <a:ext cx="552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Sound Exploration ROVer（SEROV）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F4AA5-CAED-4ED2-83A2-FCB4FB2A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29250"/>
            <a:ext cx="51911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TRONプログラミングコンテスト2026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日野 朝登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976de4a9b4b8e"/>
          <a:stretch xmlns:a="http://schemas.openxmlformats.org/drawingml/2006/main"/>
        </p:blipFill>
        <p:spPr>
          <a:xfrm xmlns:a="http://schemas.openxmlformats.org/drawingml/2006/main">
            <a:off x="6143625" y="1026043"/>
            <a:ext cx="5429250" cy="47487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3763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CB34C-B7FC-4B95-A37D-081B207C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1089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実機で確認した動作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58485E-312D-450E-8196-C7EB3785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904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7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E6BF0-EBBB-4B33-A1A7-6E2DD3F3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543050"/>
            <a:ext cx="962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鳴子を現場で学習し、見本を保存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3F57E-D4B5-420D-94AC-8B0E864A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904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7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B41B8-136A-43EA-BB3A-666C4BFA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895600"/>
            <a:ext cx="962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検知した鳴子の方向へ旋回・前進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AD6BA-96CC-441C-8772-5139D1BE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904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7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36690-E485-4B3B-B44B-701CBE38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48150"/>
            <a:ext cx="962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プランターを避け、鳴子の方向へ進む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C921F-AE3E-4C22-9556-0C282A1D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245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チュートリアルとプランター回避の実機動画2本で確認できます。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8960106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6df219a0b45c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08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395984-9AAD-47ED-8222-EF70737F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1089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現場で鳴子を学習する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B09AE-FC0A-4AF2-9E92-A32543FA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SW1を2秒長押し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088A4-06C8-4275-BF22-27507BEB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523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鳴子の有効な見本を5件集める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C1E15-A258-4E0E-8347-2DB999E5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523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もう一度2秒長押しして保存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20E9BC-0CD6-4B68-9D80-66CB5052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緑LEDの点灯が保存完了の目印。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見本はCode MRAMに残ります。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7c444a25f4087"/>
          <a:stretch xmlns:a="http://schemas.openxmlformats.org/drawingml/2006/main"/>
        </p:blipFill>
        <p:spPr>
          <a:xfrm xmlns:a="http://schemas.openxmlformats.org/drawingml/2006/main">
            <a:off x="6438900" y="1703523"/>
            <a:ext cx="5181600" cy="387005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2EB1F-6AAF-47F8-A956-16C3D819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981700"/>
            <a:ext cx="518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赤い印＝学習ボタン SW1</a:t>
            </a:r>
          </a:p>
        </p:txBody>
      </p:sp>
    </p:spTree>
    <p:extLst>
      <p:ext uri="{BB962C8B-B14F-4D97-AF65-F5344CB8AC3E}">
        <p14:creationId xmlns:p14="http://schemas.microsoft.com/office/powerpoint/2010/main" val="21411219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3DA57E-0CBB-4F52-8FDB-4D05B3AC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1089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プランター回避の試験配置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23FDD-FD9A-4E85-8275-3CE58F0A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114425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距離は目安。ローバの前面をプランターへ向け、鳴子を断続的に鳴らす。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F7A05-BA99-4FDE-A350-A526C3BF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09875"/>
            <a:ext cx="2190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6F0EE"/>
          </a:solidFill>
          <a:ln xmlns:a="http://schemas.openxmlformats.org/drawingml/2006/main" w="19050">
            <a:solidFill>
              <a:srgbClr val="9FB6B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7070F-24EE-4216-9AD0-65D9698D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1666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ローバ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49ED2-0D48-44BA-A962-7FD7F9E3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1666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前面（ToF） 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2712B4-E85F-4C4D-BCAF-680B1E09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8000"/>
            <a:ext cx="1571625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BDAA"/>
          </a:solidFill>
          <a:ln xmlns:a="http://schemas.openxmlformats.org/drawingml/2006/main" w="19050">
            <a:solidFill>
              <a:srgbClr val="A67E6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2AD19-CDB6-4D18-984B-7FE2725A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72000"/>
            <a:ext cx="2143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プランター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A0B756-66F2-44AD-9E11-215DAAE6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48000"/>
            <a:ext cx="1381125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DFC4"/>
          </a:solidFill>
          <a:ln xmlns:a="http://schemas.openxmlformats.org/drawingml/2006/main" w="19050">
            <a:solidFill>
              <a:srgbClr val="D35C3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1304C8-640E-48C3-AE83-8935AE9E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572000"/>
            <a:ext cx="1857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鳴子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37F4B-5616-4FB0-9935-82C4F783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528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約90 cm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B10014-5D39-4814-A8F1-CB7CB44E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552825"/>
            <a:ext cx="2305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音源まで約220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960101-CCBD-4413-B569-B5554691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実機では接触せず回避して鳴子へ進みました。</a:t>
            </a:r>
          </a:p>
        </p:txBody>
      </p:sp>
    </p:spTree>
    <p:extLst>
      <p:ext uri="{BB962C8B-B14F-4D97-AF65-F5344CB8AC3E}">
        <p14:creationId xmlns:p14="http://schemas.microsoft.com/office/powerpoint/2010/main" val="903345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830CA0-95CA-4CFB-BE49-50CD9410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1089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3,880バイトの制御モデル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F37B5-94A3-44B6-8D1D-2EB9F854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入力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F908D-1A09-4395-83B2-59D818D7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304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ToF距離 3方向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音源の方位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IMUの回転速度など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B92EDB-6984-4AE7-BCBF-B2DF2D06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81300"/>
            <a:ext cx="61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98092-3083-432D-875B-B3CEF9F0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0225"/>
            <a:ext cx="314325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6F0EE"/>
          </a:solidFill>
          <a:ln xmlns:a="http://schemas.openxmlformats.org/drawingml/2006/main" w="19050">
            <a:solidFill>
              <a:srgbClr val="9FB6B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36FF3-F066-410C-8BEE-A1C4CE08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TFLM  int8 MLP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F1C55-A9F9-4DB1-8286-ED66B3A1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10入力・2出力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操舵角と前進速度を推論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CC0398-8C26-48D2-B944-4577A2EC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81300"/>
            <a:ext cx="619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3EB3A9-B145-442D-912E-6A56A473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47825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出力と監視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558938-7E26-4964-9D6A-AB4CC11B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33625"/>
            <a:ext cx="2952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回避側の保持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センサの有効性確認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CPU1の指令期限監視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4BF2F-C607-4511-B61F-B8C61DC7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1085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control-simで学習したモデルをCPU0に組み込み、プランター回避を実機で確認しました。</a:t>
            </a:r>
          </a:p>
        </p:txBody>
      </p:sp>
    </p:spTree>
    <p:extLst>
      <p:ext uri="{BB962C8B-B14F-4D97-AF65-F5344CB8AC3E}">
        <p14:creationId xmlns:p14="http://schemas.microsoft.com/office/powerpoint/2010/main" val="10477201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83CC4F-009A-463D-9DBF-632DC384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1089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2本の実機動画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BD23E-EB9E-40FC-8C52-1F3D203E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チュートリアル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FEEB80-8079-470B-AECE-9E83C878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電源投入から学習・追従まで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9BB1A-3A50-47AD-B01D-0E91006B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SW1で鳴子を学習・保存し、検知した方向へ進む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B0CA4-8846-4380-8BC9-24D74E1C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480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35C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35C3D"/>
                </a:solidFill>
                <a:latin typeface="Arial Unicode MS"/>
                <a:ea typeface="Arial Unicode MS"/>
                <a:cs typeface="Arial Unicode MS"/>
              </a:rPr>
              <a:t>https://youtu.be/HlEqVrhAsqA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28D817-B26F-43FA-BC72-883A1693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主試験B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71EB9-3491-42E4-B810-C03EF21D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プランターを回避して鳴子へ進む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847B1-4377-4244-978F-81587A52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障害物に接触しない実機走行を確認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36135-BBC7-455B-8BE3-9C389AFE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35C3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D35C3D"/>
                </a:solidFill>
                <a:latin typeface="Arial Unicode MS"/>
                <a:ea typeface="Arial Unicode MS"/>
                <a:cs typeface="Arial Unicode MS"/>
              </a:rPr>
              <a:t>https://youtube.com/shorts/4OGVpEJQ6OY?si=xfHyg3C4lrh2D03t</a:t>
            </a:r>
          </a:p>
        </p:txBody>
      </p:sp>
    </p:spTree>
    <p:extLst>
      <p:ext uri="{BB962C8B-B14F-4D97-AF65-F5344CB8AC3E}">
        <p14:creationId xmlns:p14="http://schemas.microsoft.com/office/powerpoint/2010/main" val="16372346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025A0-2ACB-496D-9949-6BF1F1E9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1089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ソースコードと再現手順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B3B6E-3C4C-4384-91B9-DE003A3E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GitHub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7909C5-AA75-4B36-A21E-368A006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9775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github.com/horned128/sound-exploration-rover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17CAC-D5CB-4C7B-ACE9-1C343388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CPU0・CPU1・ESP32-S3のソースとビルド手順を公開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DBEBE-0AFA-4A77-BD60-157EB51D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control-simで制御モデルを学習し、C制御コードをPC上で試験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CDCAF-0538-4598-8EE0-FE1DECCA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1076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審査時は書き込み済みの実機と同梱の鳴子・プランターで確認できます。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13923945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7ED484-E60A-4EB0-A4A3-2041AC9F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1089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審査用の実機セット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42452-DDEC-408C-AFED-90FF5485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同梱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D758F-C19A-486D-9573-AA3DBEB3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53816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ローバ本体、鳴子、プランター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予備LiPoバッテリー、充電器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7A8BA-B574-4190-9D26-DD18EBEB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007F86"/>
                </a:solidFill>
                <a:latin typeface="Arial Unicode MS"/>
                <a:ea typeface="Arial Unicode MS"/>
                <a:cs typeface="Arial Unicode MS"/>
              </a:rPr>
              <a:t>確認の順番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96869-79BF-405E-9773-39E9ED4C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538162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① 四方向の鳴子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② プランター回避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17313E"/>
                </a:solidFill>
                <a:latin typeface="Arial Unicode MS"/>
                <a:ea typeface="Arial Unicode MS"/>
                <a:cs typeface="Arial Unicode MS"/>
              </a:rPr>
              <a:t>③ 任意で別の音を再学習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B20E6-8F96-468C-B38E-54897013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45606C"/>
                </a:solidFill>
                <a:latin typeface="Arial Unicode MS"/>
                <a:ea typeface="Arial Unicode MS"/>
                <a:cs typeface="Arial Unicode MS"/>
              </a:rPr>
              <a:t>詳しい操作は docs/contest/EVALUATION.md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6105ab44346ff"/>
          <a:stretch xmlns:a="http://schemas.openxmlformats.org/drawingml/2006/main"/>
        </p:blipFill>
        <p:spPr>
          <a:xfrm xmlns:a="http://schemas.openxmlformats.org/drawingml/2006/main">
            <a:off x="7216378" y="1447800"/>
            <a:ext cx="3378994" cy="45053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129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2026-09-29T00:53:14.5810000Z</dcterms:created>
  <dcterms:modified xsi:type="dcterms:W3CDTF">2026-09-29T00:53:14.5810000Z</dcterms:modified>
</coreProperties>
</file>